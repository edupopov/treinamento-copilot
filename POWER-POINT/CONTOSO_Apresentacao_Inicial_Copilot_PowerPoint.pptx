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8096" cy="155448"/>
          </a:xfrm>
          <a:prstGeom prst="roundRect">
            <a:avLst/>
          </a:prstGeom>
          <a:solidFill>
            <a:srgbClr val="009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7667C"/>
                </a:solidFill>
              </a:defRPr>
            </a:pPr>
            <a:r>
              <a:t>LABORATÓRIO COPILOT NO POWERPOINT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52A4A"/>
                </a:solidFill>
              </a:defRPr>
            </a:pPr>
            <a:r>
              <a:t>Projeto Integra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7667C"/>
                </a:solidFill>
              </a:defRPr>
            </a:pPr>
            <a:r>
              <a:t>MATERIAL FICTÍCIO E DIDÁTICO • Professor Eduardo Popovici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152A4A"/>
                </a:solidFill>
              </a:defRPr>
            </a:pPr>
            <a:r>
              <a:t>Revisão executiva de desempenho operacional e orçamento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5852160" cy="640080"/>
          </a:xfrm>
          <a:prstGeom prst="roundRect">
            <a:avLst/>
          </a:prstGeom>
          <a:solidFill>
            <a:srgbClr val="27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9684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APRESENTAÇÃO INICIAL — REVISÃO NECESSÁRIA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8096" cy="155448"/>
          </a:xfrm>
          <a:prstGeom prst="roundRect">
            <a:avLst/>
          </a:prstGeom>
          <a:solidFill>
            <a:srgbClr val="009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7667C"/>
                </a:solidFill>
              </a:defRPr>
            </a:pPr>
            <a:r>
              <a:t>CONTOSO BRASIL • PROJETO INTEGRA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52A4A"/>
                </a:solidFill>
              </a:defRPr>
            </a:pPr>
            <a:r>
              <a:t>Contexto e 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7667C"/>
                </a:solidFill>
              </a:defRPr>
            </a:pPr>
            <a:r>
              <a:t>MATERIAL FICTÍCIO E DIDÁTICO • Professor Eduardo Popovici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52A4A"/>
                </a:solidFill>
              </a:defRPr>
            </a:pPr>
            <a:r>
              <a:t>• Padronizar a gestão de ativos e elevar a cobertura do inventário.</a:t>
            </a:r>
          </a:p>
          <a:p>
            <a:pPr>
              <a:spcAft>
                <a:spcPts val="800"/>
              </a:spcAft>
              <a:defRPr sz="2200" b="0">
                <a:solidFill>
                  <a:srgbClr val="152A4A"/>
                </a:solidFill>
              </a:defRPr>
            </a:pPr>
            <a:r>
              <a:t>• Reduzir o prazo de atendimento.</a:t>
            </a:r>
          </a:p>
          <a:p>
            <a:pPr>
              <a:spcAft>
                <a:spcPts val="800"/>
              </a:spcAft>
              <a:defRPr sz="2200" b="0">
                <a:solidFill>
                  <a:srgbClr val="152A4A"/>
                </a:solidFill>
              </a:defRPr>
            </a:pPr>
            <a:r>
              <a:t>• Capacitar colaboradores e acompanhar o custo do projeto.</a:t>
            </a:r>
          </a:p>
          <a:p>
            <a:pPr>
              <a:spcAft>
                <a:spcPts val="800"/>
              </a:spcAft>
              <a:defRPr sz="2200" b="0">
                <a:solidFill>
                  <a:srgbClr val="152A4A"/>
                </a:solidFill>
              </a:defRPr>
            </a:pPr>
            <a:r>
              <a:t>• Consolidar decisões para a próxima etapa.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8096" cy="155448"/>
          </a:xfrm>
          <a:prstGeom prst="roundRect">
            <a:avLst/>
          </a:prstGeom>
          <a:solidFill>
            <a:srgbClr val="009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7667C"/>
                </a:solidFill>
              </a:defRPr>
            </a:pPr>
            <a:r>
              <a:t>CONTOSO BRASIL • PROJETO INTEGRA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52A4A"/>
                </a:solidFill>
              </a:defRPr>
            </a:pPr>
            <a:r>
              <a:t>Indicadores de resultado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7667C"/>
                </a:solidFill>
              </a:defRPr>
            </a:pPr>
            <a:r>
              <a:t>MATERIAL FICTÍCIO E DIDÁTICO • Professor Eduardo Popovici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83280" cy="1828800"/>
          </a:xfrm>
          <a:prstGeom prst="round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7667C"/>
                </a:solidFill>
              </a:defRPr>
            </a:pPr>
            <a:r>
              <a:t>Cobertura inventário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2764B4"/>
                </a:solidFill>
              </a:defRPr>
            </a:pPr>
            <a:r>
              <a:t>92%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7667C"/>
                </a:solidFill>
              </a:defRPr>
            </a:pPr>
            <a:r>
              <a:t>Meta 95%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383280" cy="1828800"/>
          </a:xfrm>
          <a:prstGeom prst="round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7667C"/>
                </a:solidFill>
              </a:defRPr>
            </a:pPr>
            <a:r>
              <a:t>Prazo médio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2764B4"/>
                </a:solidFill>
              </a:defRPr>
            </a:pPr>
            <a:r>
              <a:t>4,8 dias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7667C"/>
                </a:solidFill>
              </a:defRPr>
            </a:pPr>
            <a:r>
              <a:t>Meta &lt; 5 dias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383280" cy="1828800"/>
          </a:xfrm>
          <a:prstGeom prst="round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7667C"/>
                </a:solidFill>
              </a:defRPr>
            </a:pPr>
            <a:r>
              <a:t>Capacitados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2764B4"/>
                </a:solidFill>
              </a:defRPr>
            </a:pPr>
            <a:r>
              <a:t>104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7667C"/>
                </a:solidFill>
              </a:defRPr>
            </a:pPr>
            <a:r>
              <a:t>Meta 80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4069080"/>
            <a:ext cx="3383280" cy="1828800"/>
          </a:xfrm>
          <a:prstGeom prst="round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4251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7667C"/>
                </a:solidFill>
              </a:defRPr>
            </a:pPr>
            <a:r>
              <a:t>Gasto realizado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6177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2764B4"/>
                </a:solidFill>
              </a:defRPr>
            </a:pPr>
            <a:r>
              <a:t>R$ 512,5 mil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5212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7667C"/>
                </a:solidFill>
              </a:defRPr>
            </a:pPr>
            <a:r>
              <a:t>Teto R$ 480 mil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069080"/>
            <a:ext cx="3383280" cy="1828800"/>
          </a:xfrm>
          <a:prstGeom prst="round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251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7667C"/>
                </a:solidFill>
              </a:defRPr>
            </a:pPr>
            <a:r>
              <a:t>Reaberturas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177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2764B4"/>
                </a:solidFill>
              </a:defRPr>
            </a:pPr>
            <a:r>
              <a:t>11%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212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7667C"/>
                </a:solidFill>
              </a:defRPr>
            </a:pPr>
            <a:r>
              <a:t>Meta &lt; 8%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8096" cy="155448"/>
          </a:xfrm>
          <a:prstGeom prst="roundRect">
            <a:avLst/>
          </a:prstGeom>
          <a:solidFill>
            <a:srgbClr val="009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7667C"/>
                </a:solidFill>
              </a:defRPr>
            </a:pPr>
            <a:r>
              <a:t>CONTOSO BRASIL • PROJETO INTEGRA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52A4A"/>
                </a:solidFill>
              </a:defRPr>
            </a:pPr>
            <a:r>
              <a:t>Execução orçamentária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7667C"/>
                </a:solidFill>
              </a:defRPr>
            </a:pPr>
            <a:r>
              <a:t>MATERIAL FICTÍCIO E DIDÁTICO • Professor Eduardo Popovici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52A4A"/>
                </a:solidFill>
              </a:defRPr>
            </a:pPr>
            <a:r>
              <a:t>Infraestrutura  •  R$ 180 mil previstos / R$ 196 mil realizados</a:t>
            </a:r>
          </a:p>
          <a:p>
            <a:pPr>
              <a:spcAft>
                <a:spcPts val="800"/>
              </a:spcAft>
              <a:defRPr sz="1800" b="0">
                <a:solidFill>
                  <a:srgbClr val="152A4A"/>
                </a:solidFill>
              </a:defRPr>
            </a:pPr>
            <a:r>
              <a:t>Treinamento     •  R$ 70 mil previstos / R$ 66 mil realizados</a:t>
            </a:r>
          </a:p>
          <a:p>
            <a:pPr>
              <a:spcAft>
                <a:spcPts val="800"/>
              </a:spcAft>
              <a:defRPr sz="1800" b="0">
                <a:solidFill>
                  <a:srgbClr val="152A4A"/>
                </a:solidFill>
              </a:defRPr>
            </a:pPr>
            <a:r>
              <a:t>Licenças            •  R$ 140 mil previstos / R$ 156,5 mil realizados</a:t>
            </a:r>
          </a:p>
          <a:p>
            <a:pPr>
              <a:spcAft>
                <a:spcPts val="800"/>
              </a:spcAft>
              <a:defRPr sz="1800" b="0">
                <a:solidFill>
                  <a:srgbClr val="152A4A"/>
                </a:solidFill>
              </a:defRPr>
            </a:pPr>
            <a:r>
              <a:t>Consultoria       •  R$ 90 mil previstos / R$ 94 mil realizados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394960"/>
            <a:ext cx="10698480" cy="594360"/>
          </a:xfrm>
          <a:prstGeom prst="roundRect">
            <a:avLst/>
          </a:prstGeom>
          <a:solidFill>
            <a:srgbClr val="EB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52297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52A4A"/>
                </a:solidFill>
              </a:defRPr>
            </a:pPr>
            <a:r>
              <a:t>Total: previsto R$ 480 mil  |  realizado R$ 512,5 mil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8096" cy="155448"/>
          </a:xfrm>
          <a:prstGeom prst="roundRect">
            <a:avLst/>
          </a:prstGeom>
          <a:solidFill>
            <a:srgbClr val="009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7667C"/>
                </a:solidFill>
              </a:defRPr>
            </a:pPr>
            <a:r>
              <a:t>CONTOSO BRASIL • PROJETO INTEGRA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52A4A"/>
                </a:solidFill>
              </a:defRPr>
            </a:pPr>
            <a:r>
              <a:t>Evolução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7667C"/>
                </a:solidFill>
              </a:defRPr>
            </a:pPr>
            <a:r>
              <a:t>MATERIAL FICTÍCIO E DIDÁTICO • Professor Eduardo Popovici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52A4A"/>
                </a:solidFill>
              </a:defRPr>
            </a:pPr>
            <a:r>
              <a:t>Prazo médio: 7,2 dias (jul) → 4,8 dias (dez)</a:t>
            </a:r>
          </a:p>
          <a:p>
            <a:pPr>
              <a:spcAft>
                <a:spcPts val="800"/>
              </a:spcAft>
              <a:defRPr sz="2300" b="0">
                <a:solidFill>
                  <a:srgbClr val="152A4A"/>
                </a:solidFill>
              </a:defRPr>
            </a:pPr>
            <a:r>
              <a:t>Chamados atendidos: crescimento ao longo do semestre</a:t>
            </a:r>
          </a:p>
          <a:p>
            <a:pPr>
              <a:spcAft>
                <a:spcPts val="800"/>
              </a:spcAft>
              <a:defRPr sz="2300" b="0">
                <a:solidFill>
                  <a:srgbClr val="152A4A"/>
                </a:solidFill>
              </a:defRPr>
            </a:pPr>
            <a:r>
              <a:t>Reabertura: 14% (jul) → 11% (dez)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66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7667C"/>
                </a:solidFill>
              </a:defRPr>
            </a:pPr>
            <a:r>
              <a:t>A evolução é descritiva; a causa dos resultados requer investigação.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8096" cy="155448"/>
          </a:xfrm>
          <a:prstGeom prst="roundRect">
            <a:avLst/>
          </a:prstGeom>
          <a:solidFill>
            <a:srgbClr val="009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7667C"/>
                </a:solidFill>
              </a:defRPr>
            </a:pPr>
            <a:r>
              <a:t>CONTOSO BRASIL • PROJETO INTEGRA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52A4A"/>
                </a:solidFill>
              </a:defRPr>
            </a:pPr>
            <a:r>
              <a:t>Riscos, bloqueios e dependências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7667C"/>
                </a:solidFill>
              </a:defRPr>
            </a:pPr>
            <a:r>
              <a:t>MATERIAL FICTÍCIO E DIDÁTICO • Professor Eduardo Popovici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52A4A"/>
                </a:solidFill>
              </a:defRPr>
            </a:pPr>
            <a:r>
              <a:t>R1 — A cobertura de inventário apresentada nos sistemas diverge de uma nota de reunião, comprometendo a confiabilidade dos indicadores gerenciais e exigindo reconciliação das fontes.</a:t>
            </a:r>
          </a:p>
          <a:p>
            <a:pPr>
              <a:spcAft>
                <a:spcPts val="800"/>
              </a:spcAft>
              <a:defRPr sz="1900" b="0">
                <a:solidFill>
                  <a:srgbClr val="152A4A"/>
                </a:solidFill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52A4A"/>
                </a:solidFill>
              </a:defRPr>
            </a:pPr>
            <a:r>
              <a:t>R2 — Os custos de licenciamento superaram o previsto, portanto convém revisar premissas, contratos e oportunidades de negociação.</a:t>
            </a:r>
          </a:p>
          <a:p>
            <a:pPr>
              <a:spcAft>
                <a:spcPts val="800"/>
              </a:spcAft>
              <a:defRPr sz="1900" b="0">
                <a:solidFill>
                  <a:srgbClr val="152A4A"/>
                </a:solidFill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52A4A"/>
                </a:solidFill>
              </a:defRPr>
            </a:pPr>
            <a:r>
              <a:t>R3 — O procedimento de aceite precisa de melhor documentação para sustentar a conclusão formal das entregas.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8096" cy="155448"/>
          </a:xfrm>
          <a:prstGeom prst="roundRect">
            <a:avLst/>
          </a:prstGeom>
          <a:solidFill>
            <a:srgbClr val="009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7667C"/>
                </a:solidFill>
              </a:defRPr>
            </a:pPr>
            <a:r>
              <a:t>CONTOSO BRASIL • PROJETO INTEGRA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52A4A"/>
                </a:solidFill>
              </a:defRPr>
            </a:pPr>
            <a:r>
              <a:t>Decisões e próximas etapas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7667C"/>
                </a:solidFill>
              </a:defRPr>
            </a:pPr>
            <a:r>
              <a:t>MATERIAL FICTÍCIO E DIDÁTICO • Professor Eduardo Popovici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52A4A"/>
                </a:solidFill>
              </a:defRPr>
            </a:pPr>
            <a:r>
              <a:t>• Priorizar equipamentos sem inventário validado: APROVADO.</a:t>
            </a:r>
          </a:p>
          <a:p>
            <a:pPr>
              <a:spcAft>
                <a:spcPts val="800"/>
              </a:spcAft>
              <a:defRPr sz="2200" b="0">
                <a:solidFill>
                  <a:srgbClr val="152A4A"/>
                </a:solidFill>
              </a:defRPr>
            </a:pPr>
            <a:r>
              <a:t>• Contratar consultoria adicional: APROVADO.</a:t>
            </a:r>
          </a:p>
          <a:p>
            <a:pPr>
              <a:spcAft>
                <a:spcPts val="800"/>
              </a:spcAft>
              <a:defRPr sz="2200" b="0">
                <a:solidFill>
                  <a:srgbClr val="152A4A"/>
                </a:solidFill>
              </a:defRPr>
            </a:pPr>
            <a:r>
              <a:t>• Revisar licenças e replanejar orçamento: solicitação do Financeiro.</a:t>
            </a:r>
          </a:p>
          <a:p>
            <a:pPr>
              <a:spcAft>
                <a:spcPts val="800"/>
              </a:spcAft>
              <a:defRPr sz="2200" b="0">
                <a:solidFill>
                  <a:srgbClr val="152A4A"/>
                </a:solidFill>
              </a:defRPr>
            </a:pPr>
            <a:r>
              <a:t>• Regularizar prazos e evidências ausentes.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7667C"/>
                </a:solidFill>
              </a:defRPr>
            </a:pPr>
            <a:r>
              <a:t>ATENÇÃO DIDÁTICA: este slide contém uma afirmação deliberadamente incorreta.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8096" cy="155448"/>
          </a:xfrm>
          <a:prstGeom prst="roundRect">
            <a:avLst/>
          </a:prstGeom>
          <a:solidFill>
            <a:srgbClr val="009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7667C"/>
                </a:solidFill>
              </a:defRPr>
            </a:pPr>
            <a:r>
              <a:t>CONTOSO BRASIL • PROJETO INTEGRA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52A4A"/>
                </a:solidFill>
              </a:defRPr>
            </a:pPr>
            <a:r>
              <a:t>Resumo para validação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7667C"/>
                </a:solidFill>
              </a:defRPr>
            </a:pPr>
            <a:r>
              <a:t>MATERIAL FICTÍCIO E DIDÁTICO • Professor Eduardo Popovici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52A4A"/>
                </a:solidFill>
              </a:defRPr>
            </a:pPr>
            <a:r>
              <a:t>• Cobertura do inventário atingiu 96% e superou a meta.</a:t>
            </a:r>
          </a:p>
          <a:p>
            <a:pPr>
              <a:spcAft>
                <a:spcPts val="800"/>
              </a:spcAft>
              <a:defRPr sz="2200" b="0">
                <a:solidFill>
                  <a:srgbClr val="152A4A"/>
                </a:solidFill>
              </a:defRPr>
            </a:pPr>
            <a:r>
              <a:t>• Prazo médio de atendimento encerrou em 4,8 dias.</a:t>
            </a:r>
          </a:p>
          <a:p>
            <a:pPr>
              <a:spcAft>
                <a:spcPts val="800"/>
              </a:spcAft>
              <a:defRPr sz="2200" b="0">
                <a:solidFill>
                  <a:srgbClr val="152A4A"/>
                </a:solidFill>
              </a:defRPr>
            </a:pPr>
            <a:r>
              <a:t>• Orçamento realizado ultrapassou o teto.</a:t>
            </a:r>
          </a:p>
          <a:p>
            <a:pPr>
              <a:spcAft>
                <a:spcPts val="800"/>
              </a:spcAft>
              <a:defRPr sz="2200" b="0">
                <a:solidFill>
                  <a:srgbClr val="152A4A"/>
                </a:solidFill>
              </a:defRPr>
            </a:pPr>
            <a:r>
              <a:t>• Ações com prazos e evidências incompletas precisam de revisão.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7667C"/>
                </a:solidFill>
              </a:defRPr>
            </a:pPr>
            <a:r>
              <a:t>ATENÇÃO DIDÁTICA: compare este slide com o relatório fonte.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